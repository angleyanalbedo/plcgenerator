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Compile Pass Rate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Zero-Shot
GPT-4o</c:v>
                  </c:pt>
                  <c:pt idx="1">
                    <c:v>Zero-Shot
Claude</c:v>
                  </c:pt>
                  <c:pt idx="2">
                    <c:v>Zero-Shot
DeepSeek</c:v>
                  </c:pt>
                  <c:pt idx="3">
                    <c:v>Basic RAG</c:v>
                  </c:pt>
                  <c:pt idx="4">
                    <c:v>Ours
(Full System)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48</c:v>
                </c:pt>
                <c:pt idx="2">
                  <c:v>55</c:v>
                </c:pt>
                <c:pt idx="3">
                  <c:v>68</c:v>
                </c:pt>
                <c:pt idx="4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Compile Pass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Full System</c:v>
                  </c:pt>
                  <c:pt idx="1">
                    <c:v>w/o FastVal</c:v>
                  </c:pt>
                  <c:pt idx="2">
                    <c:v>w/o AST Parser</c:v>
                  </c:pt>
                  <c:pt idx="3">
                    <c:v>w/o Matiec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</c:v>
                </c:pt>
                <c:pt idx="1">
                  <c:v>76</c:v>
                </c:pt>
                <c:pt idx="2">
                  <c:v>59</c:v>
                </c:pt>
                <c:pt idx="3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(% improvement)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FastValidator</c:v>
                  </c:pt>
                  <c:pt idx="1">
                    <c:v>AST Parser</c:v>
                  </c:pt>
                  <c:pt idx="2">
                    <c:v>Matiec Compiler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24</c:v>
                </c:pt>
                <c:pt idx="2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Industrial-ST-Distiller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工业控制代码生成智能体与数据蒸馏框架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AST + Compiler-in-the-Loop + Multi-Language Conversion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将通用大模型推理能力，转化为“可运行、可验证、可转换”的工业级 PLC 代码生成能力</a:t>
            </a:r>
            <a:endParaRPr lang="en-US" sz="12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研究背景与项目定位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PAIN POINTS  →  PROJECT POSITIONING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专业壁垒高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IEC 61131-3 ST 编程依赖工业现场经验、时序机制和安全边界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高质量数据少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 PLC 代码稀缺且难以开放，限制垂直模型训练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IT-OT 语义冲突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286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通用模型习惯 C/Python 逻辑，容易破坏 PLC 循环扫描机制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Industrial-ST-Distiller: 通过 LLM、AST 解析、编译器校验与多语言转换，形成从“任务构思”到“可验证训练数据”的闭环</a:t>
            </a:r>
            <a:endParaRPr lang="en-US" sz="13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总体架构：组件化工业代码生成引擎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自然语言工业需求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ln/>
          <a:effectLst>
            <a:outerShdw sx="100000" sy="100000" kx="0" ky="0" algn="bl" rotWithShape="0" blurRad="645160000" dist="322580000" dir="972000000000">
              <a:srgbClr val="000000">
                <a:alpha val="20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(Jinja2 模板)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ln/>
          <a:effectLst>
            <a:outerShdw sx="100000" sy="100000" kx="0" ky="0" algn="bl" rotWithShape="0" blurRad="8193532000000" dist="4096766000000" dir="58320000000000000">
              <a:srgbClr val="000000">
                <a:alpha val="2000000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(异步推理)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ln/>
          <a:effectLst>
            <a:outerShdw sx="100000" sy="100000" kx="0" ky="0" algn="bl" rotWithShape="0" blurRad="104057856400000000" dist="52028928200000000" dir="3.4992e+21">
              <a:srgbClr val="000000">
                <a:alpha val="200000000000000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0116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ConfigManager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(配置管理)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0" cy="3657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.32153477628e+21" dist="660767388140000000000" dir="2.09952e+26">
              <a:srgbClr val="000000">
                <a:alpha val="2e+2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 代码生成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6576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651760" y="3291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.6783491658756e+25" dist="8.391745829378e+24" dir="1.259712e+31">
              <a:srgbClr val="000000">
                <a:alpha val="2e+2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5176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AST 解析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(ANTLR4)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6576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3291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2.1315034406620118e+29" dist="1.0657517203310059e+29" dir="7.558272e+35">
              <a:srgbClr val="000000">
                <a:alpha val="2e+3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编译器校验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(Matiec)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36576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3291840"/>
            <a:ext cx="1920240" cy="731520"/>
          </a:xfrm>
          <a:prstGeom prst="roundRect">
            <a:avLst>
              <a:gd name="adj" fmla="val 12500"/>
            </a:avLst>
          </a:prstGeom>
          <a:solidFill>
            <a:srgbClr val="0A4D68"/>
          </a:solidFill>
          <a:ln/>
          <a:effectLst>
            <a:outerShdw sx="100000" sy="100000" kx="0" ky="0" algn="bl" rotWithShape="0" blurRad="2.707009369640755e+33" dist="1.3535046848203775e+33" dir="4.5349632e+40">
              <a:srgbClr val="000000">
                <a:alpha val="2e+3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40880" y="32918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多语言转换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(FBD/LD)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023360"/>
            <a:ext cx="0" cy="27432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200400" y="43891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3.437901899443759e+37" dist="1.7189509497218795e+37" dir="2.72097792e+45">
              <a:srgbClr val="000000">
                <a:alpha val="1.9999999999999998e+4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SFT / DPO 数据集 + FBD/LD XML</a:t>
            </a:r>
            <a:endParaRPr lang="en-US" sz="11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核心技术栈与能力矩阵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AST 引擎 (ANTLR4 驱动)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基于强类型 dataclass 构建高精度抽象语法树，支持复杂表达式、多维数组与多 POU 全量扫描。内置 ast_to_dict 兼容层，确保与数据流分析工具无缝衔接。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2E5A8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工业级编译器校验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6517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FastValidator 提供极速启发式结构检查；MatiecValidator 集成 iec2c 编译器，执行严格作用域与类型推导检查，输出真实报错用于 RL/DPO 训练。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跨语言图形化转换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遵循 IEC 61131-10 XML 标准，实现 ST → FBD → LD 的降维映射。FBDXmlUnparser 自动分配图元 ID 与坐标；LDXmlUnparser 支持触点、线圈、电源线自动缝合。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数据生成流水线：从任务到可训练样本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Brainstorm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构思工业控制任务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2194560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Evolve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增加约束进化任务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2194560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4048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 ST 代码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194560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7784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0A4D68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Matiec 编译校验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2194560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118872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21945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 FBD / LD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36576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SFT 数据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高质量正样本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36576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DPO 数据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47472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Chosen/Rejected 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6576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38100" dist="25400" dir="162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3504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多模态数据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350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 ↔ FBD/LD XML</a:t>
            </a:r>
            <a:endParaRPr lang="en-US" sz="1000" dirty="0"/>
          </a:p>
        </p:txBody>
      </p:sp>
      <p:sp>
        <p:nvSpPr>
          <p:cNvPr id="3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731520" y="1371600"/>
          <a:ext cx="76809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实验结果：编译通过率对比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100 个 OSCAT 标准库 ST 文件的真实验证（*基线值为文献参考）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4572000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真实验证结果：在 100 个 OSCAT ST 文件上，Full System 通过率达 83.0%（Matiec 编译器校验）</a:t>
            </a:r>
            <a:endParaRPr lang="en-US" sz="11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37160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4754880" y="1371600"/>
          <a:ext cx="39319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消融实验：各模块贡献分析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基于真实验证数据的模块贡献分析（100 个 OSCAT ST 文件）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457200" y="466344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结论：AST Parser 贡献最大(+24%)，Matiec Compiler 确保工业级合规(+20%)，FastValidator 提供快速过滤(+7%)</a:t>
            </a:r>
            <a:endParaRPr lang="en-US" sz="10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项目模块与工具链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核心功能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技术亮点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stparser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 代码解析与 AST 构建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ANTLR4 驱动，支持多 POU 扫描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stvailder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多重校验引擎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FastValidator + MatiecValidator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fbdunparser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FBD XML 生成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自动分配图元 ID 与坐标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ldunparser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 XML 生成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触点/线圈/电源线自动缝合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fbd2ldconverter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FBD 转 LD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 XML 标签映射极速转换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stslicer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代码切片器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基于数据流的后向切片算法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staugment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数据增强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AST 与数据依赖分析的无损增强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stdatacleaner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数据清洗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Matiec 双漏斗数据清洗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工业大模型训练：生成可验证的 SFT/DPO 训练数据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PLC 程序迁移：ST ↔ FBD ↔ LD 无损转换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代码审计：AST 驱动的静态分析与缺陷定位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科研教学：完整的工业代码生成与验证平台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近期：增强语义分析器、扩展多后端支持、深化 IEC 61131-10 图形化转换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长远：形成工业自动化领域的数字化工厂，让每一行控制代码都经过严格验证</a:t>
            </a:r>
            <a:endParaRPr lang="en-US" sz="1100" dirty="0"/>
          </a:p>
        </p:txBody>
      </p:sp>
      <p:sp>
        <p:nvSpPr>
          <p:cNvPr id="1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Industrial-ST-Distiller: 工业控制代码生成与蒸馏框架</dc:title>
  <dc:subject>PptxGenJS Presentation</dc:subject>
  <dc:creator>Industrial-ST-Distiller Team</dc:creator>
  <cp:lastModifiedBy>Industrial-ST-Distiller Team</cp:lastModifiedBy>
  <cp:revision>1</cp:revision>
  <dcterms:created xsi:type="dcterms:W3CDTF">2026-06-08T06:16:02Z</dcterms:created>
  <dcterms:modified xsi:type="dcterms:W3CDTF">2026-06-08T06:16:02Z</dcterms:modified>
</cp:coreProperties>
</file>